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72" r:id="rId5"/>
    <p:sldId id="273" r:id="rId6"/>
    <p:sldId id="274" r:id="rId7"/>
    <p:sldId id="289" r:id="rId8"/>
    <p:sldId id="275" r:id="rId9"/>
    <p:sldId id="288" r:id="rId10"/>
    <p:sldId id="276" r:id="rId11"/>
    <p:sldId id="277" r:id="rId12"/>
    <p:sldId id="280" r:id="rId13"/>
    <p:sldId id="284" r:id="rId14"/>
    <p:sldId id="286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3" autoAdjust="0"/>
    <p:restoredTop sz="94660" autoAdjust="0"/>
  </p:normalViewPr>
  <p:slideViewPr>
    <p:cSldViewPr>
      <p:cViewPr varScale="1">
        <p:scale>
          <a:sx n="68" d="100"/>
          <a:sy n="68" d="100"/>
        </p:scale>
        <p:origin x="-588" y="-60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12/16/2025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pPr/>
              <a:t>12/16/2025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pPr/>
              <a:t>12/16/2025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847488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pPr/>
              <a:t>12/16/2025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406769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pPr/>
              <a:t>12/16/2025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3616330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pPr/>
              <a:t>12/16/2025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3557647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pPr/>
              <a:t>12/16/2025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595381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pPr/>
              <a:t>12/16/2025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515229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pPr/>
              <a:t>12/16/2025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172478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pPr/>
              <a:t>12/16/2025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618139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pPr/>
              <a:t>12/16/2025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4223431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pPr/>
              <a:t>12/16/2025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996675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pPr/>
              <a:t>12/16/2025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595886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12/16/2025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53988" y="152400"/>
            <a:ext cx="13336588" cy="1466851"/>
          </a:xfrm>
        </p:spPr>
        <p:txBody>
          <a:bodyPr>
            <a:norm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8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ANNAMACHARYA INSTITUTE OF TECHNOLOGY </a:t>
            </a:r>
            <a:br>
              <a:rPr lang="en-US" sz="38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&amp; SCIENCES, KADAPA </a:t>
            </a:r>
            <a:endParaRPr sz="3800" b="1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17612" y="1905000"/>
            <a:ext cx="10742613" cy="286232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4500" b="1" i="1" cap="all" dirty="0">
                <a:ln/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A Novel 8-Transistor Full Adder using </a:t>
            </a:r>
            <a:r>
              <a:rPr lang="en-US" sz="4500" b="1" i="1" cap="all" dirty="0" smtClean="0">
                <a:ln/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CNTFET</a:t>
            </a:r>
          </a:p>
          <a:p>
            <a:pPr algn="ctr"/>
            <a:r>
              <a:rPr lang="en-US" sz="4500" b="1" i="1" cap="all" dirty="0" smtClean="0">
                <a:ln/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ICICNIS-1078</a:t>
            </a:r>
            <a:endParaRPr lang="en-US" sz="4500" b="1" i="1" cap="all" dirty="0">
              <a:ln/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4500" b="1" cap="all" dirty="0">
              <a:ln/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03812" y="4191000"/>
            <a:ext cx="2934521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sz="2800" b="1" i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Presented by: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8812" y="4648200"/>
            <a:ext cx="20504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i="1" dirty="0">
                <a:latin typeface="Times New Roman" pitchFamily="18" charset="0"/>
                <a:cs typeface="Times New Roman" pitchFamily="18" charset="0"/>
              </a:rPr>
              <a:t>P. SRUTHI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sz="4000" b="1" i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VLSI systems require low power and high speed due to high integration density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Reducing transistor count is important to minimize area and power in VLSI designs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Full adders are key building blocks in ALUs and processors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CMOS scaling causes leakage power and short-channel effects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CNTFET technology offers better control and lower power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Focus on compact and energy-efficient adder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sz="4000" b="1" i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To r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educe transistor count and silicon area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To m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inimize power consumption and delay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To i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mprove PDP and EDP performance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To e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nsure reliability under voltage and temperature variations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758A2A5-DB8A-480C-939E-60947680C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i="1" dirty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BASIC FULL ADDER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xmlns="" id="{FBDF5F6C-B1ED-1D44-3E0A-E7FC8B17AD5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xmlns="" val="1448568326"/>
              </p:ext>
            </p:extLst>
          </p:nvPr>
        </p:nvGraphicFramePr>
        <p:xfrm>
          <a:off x="7008812" y="1667950"/>
          <a:ext cx="4419600" cy="4351850"/>
        </p:xfrm>
        <a:graphic>
          <a:graphicData uri="http://schemas.openxmlformats.org/drawingml/2006/table">
            <a:tbl>
              <a:tblPr/>
              <a:tblGrid>
                <a:gridCol w="883920">
                  <a:extLst>
                    <a:ext uri="{9D8B030D-6E8A-4147-A177-3AD203B41FA5}">
                      <a16:colId xmlns:a16="http://schemas.microsoft.com/office/drawing/2014/main" xmlns="" val="582973458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xmlns="" val="211053599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xmlns="" val="1628611243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xmlns="" val="15930592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xmlns="" val="1182599121"/>
                    </a:ext>
                  </a:extLst>
                </a:gridCol>
              </a:tblGrid>
              <a:tr h="435185">
                <a:tc gridSpan="3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>
                          <a:effectLst/>
                        </a:rPr>
                        <a:t>INPUT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dirty="0">
                          <a:effectLst/>
                        </a:rPr>
                        <a:t>OUTPUT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17123396"/>
                  </a:ext>
                </a:extLst>
              </a:tr>
              <a:tr h="43518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>
                          <a:effectLst/>
                        </a:rPr>
                        <a:t>A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>
                          <a:effectLst/>
                        </a:rPr>
                        <a:t>B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>
                          <a:effectLst/>
                        </a:rPr>
                        <a:t>C-IN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>
                          <a:effectLst/>
                        </a:rPr>
                        <a:t>Sum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>
                          <a:effectLst/>
                        </a:rPr>
                        <a:t>C-OUT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46723149"/>
                  </a:ext>
                </a:extLst>
              </a:tr>
              <a:tr h="435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9156261"/>
                  </a:ext>
                </a:extLst>
              </a:tr>
              <a:tr h="435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46735225"/>
                  </a:ext>
                </a:extLst>
              </a:tr>
              <a:tr h="435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64172796"/>
                  </a:ext>
                </a:extLst>
              </a:tr>
              <a:tr h="435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49522357"/>
                  </a:ext>
                </a:extLst>
              </a:tr>
              <a:tr h="435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2487894"/>
                  </a:ext>
                </a:extLst>
              </a:tr>
              <a:tr h="435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5722933"/>
                  </a:ext>
                </a:extLst>
              </a:tr>
              <a:tr h="435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02898546"/>
                  </a:ext>
                </a:extLst>
              </a:tr>
              <a:tr h="435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</a:p>
                  </a:txBody>
                  <a:tcPr marL="44823" marR="44823" marT="22412" marB="224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48350438"/>
                  </a:ext>
                </a:extLst>
              </a:tr>
            </a:tbl>
          </a:graphicData>
        </a:graphic>
      </p:graphicFrame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AA868669-A795-D268-972B-A9E9CF1344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353344" y="2234406"/>
            <a:ext cx="4810125" cy="3409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xmlns="" val="4234603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457200"/>
            <a:ext cx="10360501" cy="812800"/>
          </a:xfrm>
        </p:spPr>
        <p:txBody>
          <a:bodyPr>
            <a:norm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sz="4000" b="1" i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EXISTING FULL ADDER DESIGNS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t="2522"/>
          <a:stretch>
            <a:fillRect/>
          </a:stretch>
        </p:blipFill>
        <p:spPr bwMode="auto">
          <a:xfrm>
            <a:off x="6627812" y="2209800"/>
            <a:ext cx="4724400" cy="3200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0012" y="2209800"/>
            <a:ext cx="4343400" cy="30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7612" y="1524000"/>
            <a:ext cx="5105400" cy="3276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0212" y="1524000"/>
            <a:ext cx="4724400" cy="3276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/>
          <p:cNvSpPr txBox="1"/>
          <p:nvPr/>
        </p:nvSpPr>
        <p:spPr>
          <a:xfrm>
            <a:off x="6856412" y="68580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sz="2800" b="1" i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GDI BASED FULL 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0012" y="685800"/>
            <a:ext cx="3886577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sz="2800" b="1" i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BRIDGE FULL ADDER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sz="4000" b="1" i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LIMITATIONS OF EXISTING DESIGNS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D2FA0948-6D02-5FF5-DBC9-E501E8CAFF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8883" y="1670777"/>
            <a:ext cx="1104772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power consumption due to leakage and switching losses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propagation delay because of multiple logic stages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Larger transistor count leading to increased silicon area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Degraded output voltage levels (no full-swing outputs)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noise margin and signal reliability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at nanoscale technologies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degradation under voltage and temperature           variations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Power Delay Product and Energy Delay Product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304800"/>
            <a:ext cx="10969942" cy="1223963"/>
          </a:xfrm>
        </p:spPr>
        <p:txBody>
          <a:bodyPr>
            <a:norm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sz="4000" b="1" i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PROPOSED 8T FULL ADDER DESIGNS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6138" t="2846" r="7113"/>
          <a:stretch>
            <a:fillRect/>
          </a:stretch>
        </p:blipFill>
        <p:spPr bwMode="auto">
          <a:xfrm>
            <a:off x="6780212" y="2057400"/>
            <a:ext cx="4953000" cy="30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0012" y="2057400"/>
            <a:ext cx="4551363" cy="2971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2" y="533400"/>
            <a:ext cx="10360501" cy="1223963"/>
          </a:xfrm>
        </p:spPr>
        <p:txBody>
          <a:bodyPr>
            <a:norm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sz="4000" b="1" i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PERFORMANCE COMPARISON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3126366"/>
              </p:ext>
            </p:extLst>
          </p:nvPr>
        </p:nvGraphicFramePr>
        <p:xfrm>
          <a:off x="1217612" y="2362200"/>
          <a:ext cx="10360026" cy="2286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4533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533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4533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Tran. Count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Avg. Power(</a:t>
                      </a:r>
                      <a:r>
                        <a:rPr lang="el-GR" dirty="0">
                          <a:latin typeface="Times New Roman" pitchFamily="18" charset="0"/>
                          <a:cs typeface="Times New Roman" pitchFamily="18" charset="0"/>
                        </a:rPr>
                        <a:t>μ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W)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CMOS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14.24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BFA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12.67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9T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13.67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12.29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8600"/>
            <a:ext cx="5082740" cy="914400"/>
          </a:xfrm>
        </p:spPr>
        <p:txBody>
          <a:bodyPr>
            <a:norm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sz="3600" b="1" i="1" spc="0" dirty="0">
                <a:ln/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Advantages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212" y="1447800"/>
            <a:ext cx="5078677" cy="46482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Less no. of transistors reduces circuit area.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Less power and has low propagation delay.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Shows better energy efficiency with improved PDP and EDP.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Stable performance under voltage and temperature variations.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6812" y="228600"/>
            <a:ext cx="5082740" cy="914400"/>
          </a:xfrm>
        </p:spPr>
        <p:txBody>
          <a:bodyPr>
            <a:norm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sz="3600" b="1" i="1" spc="0" dirty="0">
                <a:ln/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Applications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99212" y="1447800"/>
            <a:ext cx="5334000" cy="47244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can be used in low-power arithmetic circuits.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is suitable for ALUs in processors and microcontrollers.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design is useful for CNTFET-based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nanoscale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VLSI systems.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is ideal for portable and battery-operated devices.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2" y="990600"/>
            <a:ext cx="10818813" cy="3611563"/>
          </a:xfrm>
        </p:spPr>
        <p:txBody>
          <a:bodyPr>
            <a:no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sz="13000" b="1" i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305</TotalTime>
  <Words>337</Words>
  <Application>Microsoft Office PowerPoint</Application>
  <PresentationFormat>Custom</PresentationFormat>
  <Paragraphs>105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Tech 16x9</vt:lpstr>
      <vt:lpstr>ANNAMACHARYA INSTITUTE OF TECHNOLOGY  &amp; SCIENCES, KADAPA </vt:lpstr>
      <vt:lpstr>INTRODUCTION</vt:lpstr>
      <vt:lpstr>OBJECTIVES</vt:lpstr>
      <vt:lpstr>BASIC FULL ADDER</vt:lpstr>
      <vt:lpstr>EXISTING FULL ADDER DESIGNS</vt:lpstr>
      <vt:lpstr>Slide 6</vt:lpstr>
      <vt:lpstr>LIMITATIONS OF EXISTING DESIGNS</vt:lpstr>
      <vt:lpstr>PROPOSED 8T FULL ADDER DESIGNS</vt:lpstr>
      <vt:lpstr>PERFORMANCE COMPARISON</vt:lpstr>
      <vt:lpstr>Slide 10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Novel 8-Transistor Full Adder using CNTFET</dc:title>
  <dc:creator>pavithra mitta</dc:creator>
  <cp:lastModifiedBy>Sruthi Pola</cp:lastModifiedBy>
  <cp:revision>19</cp:revision>
  <dcterms:created xsi:type="dcterms:W3CDTF">2025-12-14T09:36:23Z</dcterms:created>
  <dcterms:modified xsi:type="dcterms:W3CDTF">2025-12-16T10:29:09Z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